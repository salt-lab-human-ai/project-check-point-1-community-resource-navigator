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DM Sans Light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  <p:embeddedFont>
      <p:font typeface="Forum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italic.fntdata"/><Relationship Id="rId22" Type="http://schemas.openxmlformats.org/officeDocument/2006/relationships/font" Target="fonts/DMSansLight-regular.fntdata"/><Relationship Id="rId21" Type="http://schemas.openxmlformats.org/officeDocument/2006/relationships/font" Target="fonts/DMSansMedium-boldItalic.fntdata"/><Relationship Id="rId24" Type="http://schemas.openxmlformats.org/officeDocument/2006/relationships/font" Target="fonts/DMSansLight-italic.fntdata"/><Relationship Id="rId23" Type="http://schemas.openxmlformats.org/officeDocument/2006/relationships/font" Target="fonts/DMSans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DMSansLight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orum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105736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105736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10573664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1057366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d3195eb1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d3195eb1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So here’s a quick recap of where the project started and where it ended.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 Our original goal was to build a tool that helps people in Philadelphia find local community resources more quickly and accurately than a standard Google search or a generic AI chatbot.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problem we targeted: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People—especially new residents, students, or individuals in crisis—struggle to navigate scattered information across 211 websites, outdated PDFs, and inconsistent listings.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Our final system brings together: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 structured local dataset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Hybrid ranking (BM25 + MiniLM embeddings)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Personalized recommendations based on user history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 unified, clean UI with maps, filters, and clickable service cards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Target users: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Students, low-income residents, or anyone unfamiliar with Philadelphia’s social services ecosystem.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My biggest takeaway from this checkpoint: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When we ran our user evaluation, </a:t>
            </a:r>
            <a:r>
              <a:rPr i="1" lang="en">
                <a:solidFill>
                  <a:schemeClr val="dk1"/>
                </a:solidFill>
              </a:rPr>
              <a:t>five out of eight participants preferred the structured ranking and clarity of our tool</a:t>
            </a:r>
            <a:r>
              <a:rPr lang="en">
                <a:solidFill>
                  <a:schemeClr val="dk1"/>
                </a:solidFill>
              </a:rPr>
              <a:t> compared to using Google or ChatGPT alone.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validated that a specialized interface — even if simple — can reduce search time and confusion.”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d3195eb1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d3195eb1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Usability Metric for User Experience - This system’s capabilities meet my requirements. This system is easy to use.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d3195eb1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d3195eb1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d3195eb1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d3195eb1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“First, I briefly introduced the study and obtained consent.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explained that the goal was to compare two ways of finding Philadelphia community resources — my assistant and the baseline method of Googling/using existing tools.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also clarified that there was no deception and participants could stop at any time.”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“Next, I gave a very short warm-up. Participants saw both interfaces so they weren’t surprised later.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let them know they would complete tasks on </a:t>
            </a:r>
            <a:r>
              <a:rPr i="1" lang="en">
                <a:solidFill>
                  <a:schemeClr val="dk1"/>
                </a:solidFill>
              </a:rPr>
              <a:t>both</a:t>
            </a:r>
            <a:r>
              <a:rPr lang="en">
                <a:solidFill>
                  <a:schemeClr val="dk1"/>
                </a:solidFill>
              </a:rPr>
              <a:t> systems, and that the tasks would be identical.”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“Then, participants moved into the main task phase.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person completed three realistic tasks—things like finding a women’s shelter, locating food services, or checking clinic hours.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timed the tasks, checked for completion success, and captured errors or confusion along the way.”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d3195eb1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d3195eb1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Task Success Rate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“First, task success. Across all four tasks, participants completed significantly more tasks using my tool.”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“Hot-meal and crisis tasks both reached 100% success.”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“Even more complex tasks—like finding a women-only shelter or comparing two services—saw large improvements over Google/211.”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“This shows the tool reduces the cognitive load that normally comes with scattered, inconsistent search experiences.”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Time-on-Task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“We also measured efficiency. For every task, participants completed the task </a:t>
            </a:r>
            <a:r>
              <a:rPr b="1" lang="en">
                <a:solidFill>
                  <a:schemeClr val="dk1"/>
                </a:solidFill>
              </a:rPr>
              <a:t>2–3× faster</a:t>
            </a:r>
            <a:r>
              <a:rPr lang="en">
                <a:solidFill>
                  <a:schemeClr val="dk1"/>
                </a:solidFill>
              </a:rPr>
              <a:t> with my tool.”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“For example, finding a hot meal went from 48 seconds down to 19 seconds.”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“Comparing services dropped from 88 seconds to 31 seconds.”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“This strongly indicates that the unified interface and structured output meaningfully reduce navigation time.”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UMUX-Lite Score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“Participants rated the tool using UMUX-Lite, which measures perceived usability and usefulness.”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“The score was </a:t>
            </a:r>
            <a:r>
              <a:rPr b="1" lang="en">
                <a:solidFill>
                  <a:schemeClr val="dk1"/>
                </a:solidFill>
              </a:rPr>
              <a:t>82.3 out of 100</a:t>
            </a:r>
            <a:r>
              <a:rPr lang="en">
                <a:solidFill>
                  <a:schemeClr val="dk1"/>
                </a:solidFill>
              </a:rPr>
              <a:t>, which exceeds the industry benchmark of 80 for an ‘excellent’ user experience.”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“This tells us participants not only completed tasks faster—they also </a:t>
            </a:r>
            <a:r>
              <a:rPr i="1" lang="en">
                <a:solidFill>
                  <a:schemeClr val="dk1"/>
                </a:solidFill>
              </a:rPr>
              <a:t>felt</a:t>
            </a:r>
            <a:r>
              <a:rPr lang="en">
                <a:solidFill>
                  <a:schemeClr val="dk1"/>
                </a:solidFill>
              </a:rPr>
              <a:t> the tool was intuitive and useful.”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User Satisfaction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“Overall satisfaction averaged </a:t>
            </a:r>
            <a:r>
              <a:rPr b="1" lang="en">
                <a:solidFill>
                  <a:schemeClr val="dk1"/>
                </a:solidFill>
              </a:rPr>
              <a:t>4.6 out of 5</a:t>
            </a:r>
            <a:r>
              <a:rPr lang="en">
                <a:solidFill>
                  <a:schemeClr val="dk1"/>
                </a:solidFill>
              </a:rPr>
              <a:t>, which aligns with the qualitative comments about clarity, reduced frustration, and trustworthy results.”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“Participants especially appreciated having all information—eligibility, hours, phone numbers—summarized cleanly in one place.”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Closing Line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“Altogether, these quantitative results validate the value of the system: better accuracy, faster completion times, and strong user trust and satisfaction.”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d3195eb1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ad3195eb1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d3195eb1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d3195eb1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d3195eb1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d3195eb1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d3195eb1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d3195eb1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105736640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105736640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9" Type="http://schemas.openxmlformats.org/officeDocument/2006/relationships/image" Target="../media/image6.jpg"/><Relationship Id="rId5" Type="http://schemas.openxmlformats.org/officeDocument/2006/relationships/image" Target="../media/image3.jpg"/><Relationship Id="rId6" Type="http://schemas.openxmlformats.org/officeDocument/2006/relationships/image" Target="../media/image5.jpg"/><Relationship Id="rId7" Type="http://schemas.openxmlformats.org/officeDocument/2006/relationships/image" Target="../media/image4.jpg"/><Relationship Id="rId8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mmunity-navigator-ss.streamlit.app/" TargetMode="External"/><Relationship Id="rId4" Type="http://schemas.openxmlformats.org/officeDocument/2006/relationships/hyperlink" Target="https://github.com/SALT-Lab-Human-AI/project-check-point-1-community-resource-navigato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228600" y="457200"/>
            <a:ext cx="8686800" cy="1766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Community Resource Navigator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Fall 2025 - IS 492 Introduction to Generative AI for Human-AI Collaboration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descr="A light blue rectangle." id="455" name="Google Shape;455;p49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456" name="Google Shape;456;p49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457" name="Google Shape;457;p49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Satviki Sharma</a:t>
            </a:r>
            <a:endParaRPr/>
          </a:p>
        </p:txBody>
      </p:sp>
      <p:pic>
        <p:nvPicPr>
          <p:cNvPr descr="Portrait of a woman posing over pink background. " id="459" name="Google Shape;459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468" l="0" r="0" t="19554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Delivery man holding pizza boxes." id="460" name="Google Shape;460;p4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494" l="32980" r="5533" t="45150"/>
          <a:stretch/>
        </p:blipFill>
        <p:spPr>
          <a:xfrm>
            <a:off x="114902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Male hand using mobile smart phone at desk workspace." id="461" name="Google Shape;461;p4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6922" l="0" r="4388" t="3618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Studio portrait of man laughing." id="462" name="Google Shape;462;p4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119" r="119" t="0"/>
          <a:stretch/>
        </p:blipFill>
        <p:spPr>
          <a:xfrm>
            <a:off x="5271025" y="3005450"/>
            <a:ext cx="11184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woman wearing headphones looking at her phone." id="463" name="Google Shape;463;p49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10383" r="45088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4" name="Google Shape;464;p49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16910" l="0" r="0" t="16903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brown-purple texture, as of a tree trunk. " id="465" name="Google Shape;465;p49"/>
          <p:cNvPicPr preferRelativeResize="0"/>
          <p:nvPr>
            <p:ph idx="8" type="pic"/>
          </p:nvPr>
        </p:nvPicPr>
        <p:blipFill rotWithShape="1">
          <a:blip r:embed="rId9">
            <a:alphaModFix/>
          </a:blip>
          <a:srcRect b="7511" l="0" r="0" t="7519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6" name="Google Shape;466;p49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228600" y="460100"/>
            <a:ext cx="86868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Information</a:t>
            </a:r>
            <a:endParaRPr/>
          </a:p>
        </p:txBody>
      </p:sp>
      <p:sp>
        <p:nvSpPr>
          <p:cNvPr id="472" name="Google Shape;472;p50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73" name="Google Shape;473;p50"/>
          <p:cNvSpPr txBox="1"/>
          <p:nvPr/>
        </p:nvSpPr>
        <p:spPr>
          <a:xfrm>
            <a:off x="360475" y="1186950"/>
            <a:ext cx="8616600" cy="3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Sans"/>
              <a:buAutoNum type="arabicParenR"/>
            </a:pPr>
            <a:r>
              <a:rPr lang="en" sz="16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App Link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Sans"/>
              <a:buAutoNum type="arabicParenR"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Create new account with name, email ID and password and login using credentials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Sans"/>
              <a:buAutoNum type="arabicParenR"/>
            </a:pPr>
            <a:r>
              <a:rPr lang="en" sz="16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GitHub Repo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78" name="Google Shape;47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83" name="Google Shape;48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3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 — Qualitative Insights Positive Themes “Much faster than Google—everything is in one place.” Clear breakdown of address, hours, phone, and map link Low cognitive load — easy to compare services Clickable history &amp; personalized ranking were “surprisingly useful” Frustrations Some data missing due to incomplete CSV Users wanted saved favorites Wanted more interactive map markers Occasionally, Groq summary missed a detail (e.g., hours) Illustrative Quotes “I didn’t know city services could be shown this cleanly.” “Google gave me 10 tabs. Your tool gave me the answer.”" id="503" name="Google Shape;5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" y="11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8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225" y="15911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 — Conclusion &amp; Future Work&#10;Takeaways&#10;&#10;The tool significantly improves speed and success rate for finding local resources&#10;&#10;Users broadly trusted the structured results&#10;&#10;Multi-source RAG (CSV + 311 + LLM summaries) provided strong coverage&#10;&#10;Contributions&#10;&#10;Working prototype with login, personalization, ranking, mapping&#10;&#10;Evaluation demonstrating human-AI collaboration benefits&#10;&#10;Future Directions&#10;&#10;Full database backend instead of CSV&#10;&#10;Add Favorites + Saved Plans&#10;&#10;Expand to Illinois, NYC, LA&#10;&#10;Real-time scraping of nonprofit feeds&#10;&#10;Add multi-agent validation pipeline (hallucination suppression)" id="518" name="Google Shape;51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0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sp>
        <p:nvSpPr>
          <p:cNvPr id="524" name="Google Shape;524;p60"/>
          <p:cNvSpPr txBox="1"/>
          <p:nvPr>
            <p:ph idx="1" type="subTitle"/>
          </p:nvPr>
        </p:nvSpPr>
        <p:spPr>
          <a:xfrm>
            <a:off x="4994900" y="457200"/>
            <a:ext cx="3920400" cy="24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Tools used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ChatGPT (ideation, debugging support)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Groq LLaMA-3 (summaries)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Streamlit + Carto + Philly311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